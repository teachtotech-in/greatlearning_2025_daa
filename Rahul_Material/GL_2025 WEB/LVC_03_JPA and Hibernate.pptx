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77" r:id="rId2"/>
    <p:sldId id="279" r:id="rId3"/>
    <p:sldId id="280" r:id="rId4"/>
    <p:sldId id="275" r:id="rId5"/>
    <p:sldId id="281" r:id="rId6"/>
    <p:sldId id="284" r:id="rId7"/>
    <p:sldId id="285" r:id="rId8"/>
    <p:sldId id="286" r:id="rId9"/>
    <p:sldId id="287" r:id="rId10"/>
    <p:sldId id="288" r:id="rId11"/>
    <p:sldId id="28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hul" initials="r" lastIdx="2" clrIdx="0">
    <p:extLst>
      <p:ext uri="{19B8F6BF-5375-455C-9EA6-DF929625EA0E}">
        <p15:presenceInfo xmlns:p15="http://schemas.microsoft.com/office/powerpoint/2012/main" userId="103bc0cf28f8881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1-09T01:22:39.875" idx="2">
    <p:pos x="7234" y="656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B914E-D827-4123-83C9-9AA8E49EB0F8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CDDEE-0AFA-4340-BBAA-0D88C65F3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77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1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y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3831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77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6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0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8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2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7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8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179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2E91113-DBE6-4B86-B65C-2CFE1B7C3AF4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280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9A3548-2D59-F479-E525-D307AA5F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JPA and Hibernate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86AE8-3018-1C18-5880-A0F2B378A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1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7C63-709B-8DF4-C5D4-1DDD7503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C9A14-6676-4C27-C42D-E9F263096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Spring Boot Project with H2 </a:t>
            </a:r>
          </a:p>
          <a:p>
            <a:r>
              <a:rPr lang="en-US" dirty="0"/>
              <a:t>Create COURSE table </a:t>
            </a:r>
          </a:p>
          <a:p>
            <a:r>
              <a:rPr lang="en-US" dirty="0"/>
              <a:t>Use Spring JDBC to play with COURSE table </a:t>
            </a:r>
          </a:p>
          <a:p>
            <a:r>
              <a:rPr lang="en-US" dirty="0"/>
              <a:t>Use JPA and Hibernate to play with COURSE table </a:t>
            </a:r>
          </a:p>
          <a:p>
            <a:r>
              <a:rPr lang="en-US" dirty="0"/>
              <a:t>Use Spring Data JPA to play with COURSE table</a:t>
            </a:r>
          </a:p>
        </p:txBody>
      </p:sp>
    </p:spTree>
    <p:extLst>
      <p:ext uri="{BB962C8B-B14F-4D97-AF65-F5344CB8AC3E}">
        <p14:creationId xmlns:p14="http://schemas.microsoft.com/office/powerpoint/2010/main" val="166434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8C42-6764-A2F6-D179-67C4FF70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Auto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932F-3FE4-C142-8DAE-8C979A007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added Data JPA and H2 dependencies: </a:t>
            </a:r>
          </a:p>
          <a:p>
            <a:pPr lvl="1"/>
            <a:r>
              <a:rPr lang="en-US" dirty="0"/>
              <a:t>Spring Boot Auto Configuration does some magic: </a:t>
            </a:r>
          </a:p>
          <a:p>
            <a:pPr lvl="2"/>
            <a:r>
              <a:rPr lang="en-US" dirty="0"/>
              <a:t>Initialize JPA and Spring Data JPA frameworks </a:t>
            </a:r>
          </a:p>
          <a:p>
            <a:pPr lvl="2"/>
            <a:r>
              <a:rPr lang="en-US" dirty="0"/>
              <a:t>Launch an in memory database (H2) </a:t>
            </a:r>
          </a:p>
          <a:p>
            <a:pPr lvl="2"/>
            <a:r>
              <a:rPr lang="en-US" dirty="0"/>
              <a:t>Setup connection from App to in-memory database </a:t>
            </a:r>
          </a:p>
          <a:p>
            <a:pPr lvl="2"/>
            <a:r>
              <a:rPr lang="en-US" dirty="0"/>
              <a:t>Launch a few scripts at startup (example: </a:t>
            </a:r>
            <a:r>
              <a:rPr lang="en-US" dirty="0" err="1"/>
              <a:t>data.sql</a:t>
            </a:r>
            <a:r>
              <a:rPr lang="en-US" dirty="0"/>
              <a:t>, </a:t>
            </a:r>
            <a:r>
              <a:rPr lang="en-US" dirty="0" err="1"/>
              <a:t>schema.sql</a:t>
            </a:r>
            <a:r>
              <a:rPr lang="en-US" dirty="0"/>
              <a:t>) </a:t>
            </a:r>
          </a:p>
          <a:p>
            <a:r>
              <a:rPr lang="en-US" dirty="0"/>
              <a:t>Remember - H2 is in memory database </a:t>
            </a:r>
          </a:p>
          <a:p>
            <a:pPr lvl="1"/>
            <a:r>
              <a:rPr lang="en-US" dirty="0"/>
              <a:t>Does NOT persist data </a:t>
            </a:r>
          </a:p>
          <a:p>
            <a:pPr lvl="1"/>
            <a:r>
              <a:rPr lang="en-US" dirty="0"/>
              <a:t>Great for learning </a:t>
            </a:r>
          </a:p>
          <a:p>
            <a:pPr lvl="1"/>
            <a:r>
              <a:rPr lang="en-US" dirty="0"/>
              <a:t>BUT NOT so great for production</a:t>
            </a:r>
          </a:p>
        </p:txBody>
      </p:sp>
    </p:spTree>
    <p:extLst>
      <p:ext uri="{BB962C8B-B14F-4D97-AF65-F5344CB8AC3E}">
        <p14:creationId xmlns:p14="http://schemas.microsoft.com/office/powerpoint/2010/main" val="69742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0197-D69E-9E5D-0B91-8B022A3A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89" y="-9143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Boot + JPA + Hibernate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026CAFF-846E-3250-28ED-C46858BD4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232" b="7379"/>
          <a:stretch/>
        </p:blipFill>
        <p:spPr>
          <a:xfrm>
            <a:off x="412652" y="998805"/>
            <a:ext cx="11029071" cy="5472333"/>
          </a:xfrm>
        </p:spPr>
      </p:pic>
    </p:spTree>
    <p:extLst>
      <p:ext uri="{BB962C8B-B14F-4D97-AF65-F5344CB8AC3E}">
        <p14:creationId xmlns:p14="http://schemas.microsoft.com/office/powerpoint/2010/main" val="1043502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B8D9-2008-4DC1-A5BF-627569CD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JDBC to Spring JDBC to JPA to Spring Data JPA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9DDA5-6671-A342-DC05-9CAAF135A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JDBC </a:t>
            </a:r>
          </a:p>
          <a:p>
            <a:pPr lvl="1"/>
            <a:r>
              <a:rPr lang="en-US" dirty="0"/>
              <a:t>Write a lot of SQL queries! (delete from </a:t>
            </a:r>
            <a:r>
              <a:rPr lang="en-US" dirty="0" err="1"/>
              <a:t>todo</a:t>
            </a:r>
            <a:r>
              <a:rPr lang="en-US" dirty="0"/>
              <a:t> where id=?) </a:t>
            </a:r>
          </a:p>
          <a:p>
            <a:pPr lvl="1"/>
            <a:r>
              <a:rPr lang="en-US" dirty="0"/>
              <a:t>And write a lot of Java code </a:t>
            </a:r>
          </a:p>
          <a:p>
            <a:r>
              <a:rPr lang="en-US" dirty="0"/>
              <a:t>Spring JDBC (</a:t>
            </a:r>
            <a:r>
              <a:rPr lang="en-US" dirty="0" err="1"/>
              <a:t>E.g</a:t>
            </a:r>
            <a:r>
              <a:rPr lang="en-US" dirty="0"/>
              <a:t> :- learning-with-rahul-04-jdbcTemplate-with-hibernate)</a:t>
            </a:r>
          </a:p>
          <a:p>
            <a:pPr lvl="1"/>
            <a:r>
              <a:rPr lang="en-US" dirty="0"/>
              <a:t>Write a lot of SQL queries (delete from </a:t>
            </a:r>
            <a:r>
              <a:rPr lang="en-US" dirty="0" err="1"/>
              <a:t>todo</a:t>
            </a:r>
            <a:r>
              <a:rPr lang="en-US" dirty="0"/>
              <a:t> where id=?) </a:t>
            </a:r>
          </a:p>
          <a:p>
            <a:pPr lvl="1"/>
            <a:r>
              <a:rPr lang="en-US" dirty="0"/>
              <a:t>BUT lesser Java code </a:t>
            </a:r>
          </a:p>
          <a:p>
            <a:r>
              <a:rPr lang="en-US" dirty="0"/>
              <a:t>JPA (E.g.learning-with-rahul-04-jpa-with-hibernate)</a:t>
            </a:r>
          </a:p>
          <a:p>
            <a:pPr lvl="1"/>
            <a:r>
              <a:rPr lang="en-US" dirty="0"/>
              <a:t>Do NOT worry about queries </a:t>
            </a:r>
          </a:p>
          <a:p>
            <a:pPr lvl="1"/>
            <a:r>
              <a:rPr lang="en-US" dirty="0"/>
              <a:t>Just Map Entities to Tables! </a:t>
            </a:r>
          </a:p>
          <a:p>
            <a:r>
              <a:rPr lang="en-US" dirty="0"/>
              <a:t>Spring Data JPA (E.g. learning-with-rahul-04-springdatajpa-with-hibernate)</a:t>
            </a:r>
          </a:p>
          <a:p>
            <a:pPr lvl="1"/>
            <a:r>
              <a:rPr lang="en-US" dirty="0"/>
              <a:t>Let's make JPA even more simple! </a:t>
            </a:r>
          </a:p>
          <a:p>
            <a:pPr lvl="1"/>
            <a:r>
              <a:rPr lang="en-US" dirty="0"/>
              <a:t>I will take care of everything! </a:t>
            </a:r>
          </a:p>
        </p:txBody>
      </p:sp>
    </p:spTree>
    <p:extLst>
      <p:ext uri="{BB962C8B-B14F-4D97-AF65-F5344CB8AC3E}">
        <p14:creationId xmlns:p14="http://schemas.microsoft.com/office/powerpoint/2010/main" val="2085795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05C5-1A82-43EC-4172-ADB79B1E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JDBC to Spring JDBC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9F89-C710-8708-4638-174F87868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659988"/>
            <a:ext cx="9720073" cy="46493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JDBC example:</a:t>
            </a:r>
          </a:p>
          <a:p>
            <a:r>
              <a:rPr lang="en-US" dirty="0"/>
              <a:t>public void </a:t>
            </a:r>
            <a:r>
              <a:rPr lang="en-US" dirty="0" err="1"/>
              <a:t>deleteTodo</a:t>
            </a:r>
            <a:r>
              <a:rPr lang="en-US" dirty="0"/>
              <a:t>(int id) {</a:t>
            </a:r>
          </a:p>
          <a:p>
            <a:r>
              <a:rPr lang="en-US" dirty="0" err="1"/>
              <a:t>PreparedStatement</a:t>
            </a:r>
            <a:r>
              <a:rPr lang="en-US" dirty="0"/>
              <a:t> </a:t>
            </a:r>
            <a:r>
              <a:rPr lang="en-US" dirty="0" err="1"/>
              <a:t>st</a:t>
            </a:r>
            <a:r>
              <a:rPr lang="en-US" dirty="0"/>
              <a:t> = null;</a:t>
            </a:r>
          </a:p>
          <a:p>
            <a:r>
              <a:rPr lang="en-US" dirty="0"/>
              <a:t>try {</a:t>
            </a:r>
          </a:p>
          <a:p>
            <a:r>
              <a:rPr lang="en-US" dirty="0" err="1"/>
              <a:t>st</a:t>
            </a:r>
            <a:r>
              <a:rPr lang="en-US" dirty="0"/>
              <a:t> = </a:t>
            </a:r>
            <a:r>
              <a:rPr lang="en-US" dirty="0" err="1"/>
              <a:t>db.conn.prepareStatement</a:t>
            </a:r>
            <a:r>
              <a:rPr lang="en-US" dirty="0"/>
              <a:t>("delete from </a:t>
            </a:r>
            <a:r>
              <a:rPr lang="en-US" dirty="0" err="1"/>
              <a:t>todo</a:t>
            </a:r>
            <a:r>
              <a:rPr lang="en-US" dirty="0"/>
              <a:t> where id=?");</a:t>
            </a:r>
          </a:p>
          <a:p>
            <a:r>
              <a:rPr lang="en-US" dirty="0" err="1"/>
              <a:t>st.setInt</a:t>
            </a:r>
            <a:r>
              <a:rPr lang="en-US" dirty="0"/>
              <a:t>(1, id);</a:t>
            </a:r>
          </a:p>
          <a:p>
            <a:r>
              <a:rPr lang="en-US" dirty="0" err="1"/>
              <a:t>st.execute</a:t>
            </a:r>
            <a:r>
              <a:rPr lang="en-US" dirty="0"/>
              <a:t>();</a:t>
            </a:r>
          </a:p>
          <a:p>
            <a:r>
              <a:rPr lang="en-US" dirty="0"/>
              <a:t>} catch (</a:t>
            </a:r>
            <a:r>
              <a:rPr lang="en-US" dirty="0" err="1"/>
              <a:t>SQLException</a:t>
            </a:r>
            <a:r>
              <a:rPr lang="en-US" dirty="0"/>
              <a:t> e) {</a:t>
            </a:r>
          </a:p>
          <a:p>
            <a:r>
              <a:rPr lang="en-US" dirty="0" err="1"/>
              <a:t>logger.fatal</a:t>
            </a:r>
            <a:r>
              <a:rPr lang="en-US" dirty="0"/>
              <a:t>("Query Failed : ", e);</a:t>
            </a:r>
          </a:p>
          <a:p>
            <a:r>
              <a:rPr lang="en-US" dirty="0"/>
              <a:t>} finally {</a:t>
            </a:r>
          </a:p>
          <a:p>
            <a:r>
              <a:rPr lang="en-US" dirty="0"/>
              <a:t>if (</a:t>
            </a:r>
            <a:r>
              <a:rPr lang="en-US" dirty="0" err="1"/>
              <a:t>st</a:t>
            </a:r>
            <a:r>
              <a:rPr lang="en-US" dirty="0"/>
              <a:t> != null) {</a:t>
            </a:r>
          </a:p>
          <a:p>
            <a:r>
              <a:rPr lang="en-US" dirty="0"/>
              <a:t>try {</a:t>
            </a:r>
            <a:r>
              <a:rPr lang="en-US" dirty="0" err="1"/>
              <a:t>st.close</a:t>
            </a:r>
            <a:r>
              <a:rPr lang="en-US" dirty="0"/>
              <a:t>();}</a:t>
            </a:r>
          </a:p>
          <a:p>
            <a:r>
              <a:rPr lang="en-US" dirty="0"/>
              <a:t>catch (</a:t>
            </a:r>
            <a:r>
              <a:rPr lang="en-US" dirty="0" err="1"/>
              <a:t>SQLException</a:t>
            </a:r>
            <a:r>
              <a:rPr lang="en-US" dirty="0"/>
              <a:t> e) {}}}}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00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BD75-0CE5-3557-E0CE-8024A3FF3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JDBC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266A8-69D9-18EB-9BF0-2A065A68A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void </a:t>
            </a:r>
            <a:r>
              <a:rPr lang="en-US" dirty="0" err="1"/>
              <a:t>deleteTodo</a:t>
            </a:r>
            <a:r>
              <a:rPr lang="en-US" dirty="0"/>
              <a:t>(int id) {</a:t>
            </a:r>
          </a:p>
          <a:p>
            <a:r>
              <a:rPr lang="en-US" dirty="0" err="1"/>
              <a:t>jdbcTemplate.update</a:t>
            </a:r>
            <a:r>
              <a:rPr lang="en-US" dirty="0"/>
              <a:t>("delete from </a:t>
            </a:r>
            <a:r>
              <a:rPr lang="en-US" dirty="0" err="1"/>
              <a:t>todo</a:t>
            </a:r>
            <a:r>
              <a:rPr lang="en-US" dirty="0"/>
              <a:t> where id=?", id);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665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AF8A-D35F-4AFE-A176-30EC2AB9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JPA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479F-59AD-F87D-0279-4C8C7DF0A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41342"/>
            <a:ext cx="9720073" cy="436801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@Repository</a:t>
            </a:r>
          </a:p>
          <a:p>
            <a:r>
              <a:rPr lang="en-US" dirty="0"/>
              <a:t>public class </a:t>
            </a:r>
            <a:r>
              <a:rPr lang="en-US" dirty="0" err="1"/>
              <a:t>PersonJpaRepository</a:t>
            </a:r>
            <a:r>
              <a:rPr lang="en-US" dirty="0"/>
              <a:t> {</a:t>
            </a:r>
          </a:p>
          <a:p>
            <a:r>
              <a:rPr lang="en-US" dirty="0"/>
              <a:t>@PersistenceContext</a:t>
            </a:r>
          </a:p>
          <a:p>
            <a:r>
              <a:rPr lang="en-US" dirty="0" err="1"/>
              <a:t>EntityManager</a:t>
            </a:r>
            <a:r>
              <a:rPr lang="en-US" dirty="0"/>
              <a:t> </a:t>
            </a:r>
            <a:r>
              <a:rPr lang="en-US" dirty="0" err="1"/>
              <a:t>entityManager</a:t>
            </a:r>
            <a:r>
              <a:rPr lang="en-US" dirty="0"/>
              <a:t>;</a:t>
            </a:r>
          </a:p>
          <a:p>
            <a:r>
              <a:rPr lang="en-US" dirty="0"/>
              <a:t>public Person </a:t>
            </a:r>
            <a:r>
              <a:rPr lang="en-US" dirty="0" err="1"/>
              <a:t>findById</a:t>
            </a:r>
            <a:r>
              <a:rPr lang="en-US" dirty="0"/>
              <a:t>(int id) {</a:t>
            </a:r>
          </a:p>
          <a:p>
            <a:r>
              <a:rPr lang="en-US" dirty="0"/>
              <a:t>return </a:t>
            </a:r>
            <a:r>
              <a:rPr lang="en-US" dirty="0" err="1"/>
              <a:t>entityManager.find</a:t>
            </a:r>
            <a:r>
              <a:rPr lang="en-US" dirty="0"/>
              <a:t>(</a:t>
            </a:r>
            <a:r>
              <a:rPr lang="en-US" dirty="0" err="1"/>
              <a:t>Person.class</a:t>
            </a:r>
            <a:r>
              <a:rPr lang="en-US" dirty="0"/>
              <a:t>, id);}</a:t>
            </a:r>
          </a:p>
          <a:p>
            <a:r>
              <a:rPr lang="en-US" dirty="0"/>
              <a:t>public Person update(Person person) {</a:t>
            </a:r>
          </a:p>
          <a:p>
            <a:r>
              <a:rPr lang="en-US" dirty="0"/>
              <a:t>return </a:t>
            </a:r>
            <a:r>
              <a:rPr lang="en-US" dirty="0" err="1"/>
              <a:t>entityManager.merge</a:t>
            </a:r>
            <a:r>
              <a:rPr lang="en-US" dirty="0"/>
              <a:t>(person);}</a:t>
            </a:r>
          </a:p>
          <a:p>
            <a:r>
              <a:rPr lang="en-US" dirty="0"/>
              <a:t>public Person insert(Person person) {</a:t>
            </a:r>
          </a:p>
          <a:p>
            <a:r>
              <a:rPr lang="en-US" dirty="0"/>
              <a:t>return </a:t>
            </a:r>
            <a:r>
              <a:rPr lang="en-US" dirty="0" err="1"/>
              <a:t>entityManager.merge</a:t>
            </a:r>
            <a:r>
              <a:rPr lang="en-US" dirty="0"/>
              <a:t>(person);}</a:t>
            </a:r>
          </a:p>
          <a:p>
            <a:r>
              <a:rPr lang="en-US" dirty="0"/>
              <a:t>public void </a:t>
            </a:r>
            <a:r>
              <a:rPr lang="en-US" dirty="0" err="1"/>
              <a:t>deleteById</a:t>
            </a:r>
            <a:r>
              <a:rPr lang="en-US" dirty="0"/>
              <a:t>(int id) {........</a:t>
            </a:r>
          </a:p>
        </p:txBody>
      </p:sp>
    </p:spTree>
    <p:extLst>
      <p:ext uri="{BB962C8B-B14F-4D97-AF65-F5344CB8AC3E}">
        <p14:creationId xmlns:p14="http://schemas.microsoft.com/office/powerpoint/2010/main" val="2866834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D250-0B3F-B54C-F00A-C5F04C3B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Data JPA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73C39-4477-98C9-84E0-EBBBD9C95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interface </a:t>
            </a:r>
            <a:r>
              <a:rPr lang="en-US" dirty="0" err="1"/>
              <a:t>TodoRepository</a:t>
            </a:r>
            <a:r>
              <a:rPr lang="en-US" dirty="0"/>
              <a:t> extends </a:t>
            </a:r>
            <a:r>
              <a:rPr lang="en-US" dirty="0" err="1"/>
              <a:t>JpaRepository</a:t>
            </a:r>
            <a:r>
              <a:rPr lang="en-US" dirty="0"/>
              <a:t>{}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963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6CB5-E2A3-3537-2E16-9807971A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Hibernate vs JPA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3EEE1-E233-18E6-6A21-20CBD7D3B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2196"/>
            <a:ext cx="9720073" cy="434058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JPA defines the specification. It is an API.</a:t>
            </a:r>
          </a:p>
          <a:p>
            <a:pPr lvl="1"/>
            <a:r>
              <a:rPr lang="en-US" sz="2800" dirty="0"/>
              <a:t>How do you define entities?</a:t>
            </a:r>
          </a:p>
          <a:p>
            <a:pPr lvl="1"/>
            <a:r>
              <a:rPr lang="en-US" sz="2800" dirty="0"/>
              <a:t>How do you map attributes?</a:t>
            </a:r>
          </a:p>
          <a:p>
            <a:pPr lvl="1"/>
            <a:r>
              <a:rPr lang="en-US" sz="2800" dirty="0"/>
              <a:t>Who manages the entities?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Hibernate is one of the popular implementations of JPA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Using Hibernate directly would result in a lock in to Hibernate</a:t>
            </a:r>
          </a:p>
          <a:p>
            <a:pPr lvl="1"/>
            <a:r>
              <a:rPr lang="en-US" sz="2800" dirty="0"/>
              <a:t>There are other JPA implementations (Toplink, for example)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8529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7D8C-39F2-F450-7F55-F6FB4EF7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ADD96-F6C0-336D-F245-E1666EB72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52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2435</TotalTime>
  <Words>478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Tw Cen MT</vt:lpstr>
      <vt:lpstr>Tw Cen MT Condensed</vt:lpstr>
      <vt:lpstr>Wingdings 3</vt:lpstr>
      <vt:lpstr>Integral</vt:lpstr>
      <vt:lpstr>JPA and Hibernate</vt:lpstr>
      <vt:lpstr>Approach</vt:lpstr>
      <vt:lpstr>Spring Boot Auto Configuration</vt:lpstr>
      <vt:lpstr>Boot + JPA + Hibernate</vt:lpstr>
      <vt:lpstr>JDBC to Spring JDBC to JPA to Spring Data JPA</vt:lpstr>
      <vt:lpstr>JDBC to Spring JDBC</vt:lpstr>
      <vt:lpstr>Spring JDBC example</vt:lpstr>
      <vt:lpstr>JPA Example</vt:lpstr>
      <vt:lpstr>Spring Data JPA Example</vt:lpstr>
      <vt:lpstr>Hibernate vs JPA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</dc:title>
  <dc:creator>rahul</dc:creator>
  <cp:lastModifiedBy>rahul dixit</cp:lastModifiedBy>
  <cp:revision>39</cp:revision>
  <dcterms:created xsi:type="dcterms:W3CDTF">2023-01-08T06:28:32Z</dcterms:created>
  <dcterms:modified xsi:type="dcterms:W3CDTF">2023-10-03T16:08:42Z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2023-09-03T12:28:24Z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1e98151f-8b85-4f7e-8f8d-43c09e5a1938</vt:lpwstr>
  </property>
  <property fmtid="{D5CDD505-2E9C-101B-9397-08002B2CF9AE}" pid="7" name="MSIP_Label_defa4170-0d19-0005-0004-bc88714345d2_ActionId">
    <vt:lpwstr>fe7e1904-b2e1-49fd-b168-f27c31512164</vt:lpwstr>
  </property>
  <property fmtid="{D5CDD505-2E9C-101B-9397-08002B2CF9AE}" pid="8" name="MSIP_Label_defa4170-0d19-0005-0004-bc88714345d2_ContentBits">
    <vt:lpwstr>0</vt:lpwstr>
  </property>
</Properties>
</file>